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Sammarieo Brown. I am a data scientist and software engineer. I work in banking at JN Bank and in payments at Lunipay, here in Jamaica. I am applying with my teammates Raheem Wilson and Matthew Stone as team Project Lighthouse, for Track 04, Climate Risk and Disaster Coordination. And this idea is not theoretical for us. We lived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months ago Hurricane Melissa hit Jamaica. Forty-five people died. Six hundred and twenty-six thousand people were affected. A hundred and twenty thousand buildings lost their roofs, and the damage came to nearly a quarter of our GDP. My team and I prepared for that storm, sat through landfall, and spent months inside the aftermath. That is why we want to be in this buildathon.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shocked us most. The world's money was fast. Jamaica's catastrophe bond paid out one hundred and fifty million US dollars about ten days after landfall. The IMF approved four hundred and fifteen million more. Donations poured in. And four months later, the Auditor General found that only one point eight percent of donated cash had reached households. The Caribbean does not have a disaster money problem. It has a last mile distribution problem. Nothing connects the forecast to the household, the household to a verified claim, and the claim to a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Lighthouse is that missing rail. Every household gets one record, a Storm File, that moves through five states: registered before the season, at risk when a storm approaches, affected when they report damage, verified when agents confirm it, and settled when help arrives. Families interact through WhatsApp, in Patois or English, no app to download. Someone sends a voice note, mi roof gone, mi deh a Black River, and the system turns it into a verified, geolocated claim. The report becomes the claim becomes the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this is an agentic system, and the agents are the reason it can exist. A forecast sentinel watches NOAA and ECMWF feeds around the clock. An intake agent holds thousands of conversations at once. A verification agent checks each claim against the storm's wind field, satellite imagery, and neighbouring reports. A logistics agent matches verified needs to supplies. And the rule that governs all of it: agents do the cognition, the state machine constrains their authority, and humans hold every gate that moves money. We will use the H200 compute to fine-tune a Jamaican Patois speech model, which no other team will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far beyond Jamaica. Nineteen CDEMA member states share the same gap, and none is a big enough market alone, which is exactly why a shared Caribbean platform is the answer, and why nobody has built it yet. Our metric is Time to Relief, from months to seventy-two hours. In five years, Lighthouse is the settlement layer for disaster capital across the region and the wider small island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us? Raheem builds production software at Norus and Intelibus. Matthew is the founder and President of the Jamaica AI Association. And my own background spans banking, payments, and data science. One timezone, the pilot country, and we have already started building against NOAA data feeds. We are continuing after this buildathon no matter what. Because the next storm will not wait.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1417320"/>
            <a:ext cx="73152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Calibri" pitchFamily="34" charset="0"/>
                <a:ea typeface="Calibri" pitchFamily="34" charset="-122"/>
                <a:cs typeface="Calibri" pitchFamily="34" charset="-120"/>
              </a:rPr>
              <a:t>FUTURECARIBBEAN BUILDATHON 2026</a:t>
            </a:r>
            <a:endParaRPr lang="en-US" sz="1400" dirty="0"/>
          </a:p>
        </p:txBody>
      </p:sp>
      <p:sp>
        <p:nvSpPr>
          <p:cNvPr id="3" name="Text 1"/>
          <p:cNvSpPr/>
          <p:nvPr/>
        </p:nvSpPr>
        <p:spPr>
          <a:xfrm>
            <a:off x="640080" y="1828800"/>
            <a:ext cx="7863840" cy="1097280"/>
          </a:xfrm>
          <a:prstGeom prst="rect">
            <a:avLst/>
          </a:prstGeom>
          <a:noFill/>
          <a:ln/>
        </p:spPr>
        <p:txBody>
          <a:bodyPr wrap="square" lIns="0" tIns="0" rIns="0" bIns="0" rtlCol="0" anchor="ctr"/>
          <a:lstStyle/>
          <a:p>
            <a:pPr indent="0" marL="0">
              <a:buNone/>
            </a:pPr>
            <a:r>
              <a:rPr lang="en-US" sz="6400" b="1" spc="400" kern="0" dirty="0">
                <a:solidFill>
                  <a:srgbClr val="FFFFFF"/>
                </a:solidFill>
                <a:latin typeface="Calibri" pitchFamily="34" charset="0"/>
                <a:ea typeface="Calibri" pitchFamily="34" charset="-122"/>
                <a:cs typeface="Calibri" pitchFamily="34" charset="-120"/>
              </a:rPr>
              <a:t>LIGHTHOUSE</a:t>
            </a:r>
            <a:endParaRPr lang="en-US" sz="6400" dirty="0"/>
          </a:p>
        </p:txBody>
      </p:sp>
      <p:sp>
        <p:nvSpPr>
          <p:cNvPr id="4" name="Text 2"/>
          <p:cNvSpPr/>
          <p:nvPr/>
        </p:nvSpPr>
        <p:spPr>
          <a:xfrm>
            <a:off x="640080" y="2971800"/>
            <a:ext cx="7680960" cy="548640"/>
          </a:xfrm>
          <a:prstGeom prst="rect">
            <a:avLst/>
          </a:prstGeom>
          <a:noFill/>
          <a:ln/>
        </p:spPr>
        <p:txBody>
          <a:bodyPr wrap="square" lIns="0" tIns="0" rIns="0" bIns="0" rtlCol="0" anchor="ctr"/>
          <a:lstStyle/>
          <a:p>
            <a:pPr indent="0" marL="0">
              <a:buNone/>
            </a:pPr>
            <a:r>
              <a:rPr lang="en-US" sz="2100" i="1" dirty="0">
                <a:solidFill>
                  <a:srgbClr val="CADCFC"/>
                </a:solidFill>
                <a:latin typeface="Calibri" pitchFamily="34" charset="0"/>
                <a:ea typeface="Calibri" pitchFamily="34" charset="-122"/>
                <a:cs typeface="Calibri" pitchFamily="34" charset="-120"/>
              </a:rPr>
              <a:t>The rail between disaster capital and households.</a:t>
            </a:r>
            <a:endParaRPr lang="en-US" sz="2100" dirty="0"/>
          </a:p>
        </p:txBody>
      </p:sp>
      <p:sp>
        <p:nvSpPr>
          <p:cNvPr id="5" name="Text 3"/>
          <p:cNvSpPr/>
          <p:nvPr/>
        </p:nvSpPr>
        <p:spPr>
          <a:xfrm>
            <a:off x="640080" y="3977640"/>
            <a:ext cx="768096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Sammarieo Brown  ·  Raheem Wilson  ·  Matthew Stone</a:t>
            </a:r>
            <a:endParaRPr lang="en-US" sz="1600" dirty="0"/>
          </a:p>
        </p:txBody>
      </p:sp>
      <p:sp>
        <p:nvSpPr>
          <p:cNvPr id="6" name="Text 4"/>
          <p:cNvSpPr/>
          <p:nvPr/>
        </p:nvSpPr>
        <p:spPr>
          <a:xfrm>
            <a:off x="640080" y="4434840"/>
            <a:ext cx="768096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Team Project Lighthouse   |   Track 04: Climate Risk &amp; Disaster Coordination</a:t>
            </a:r>
            <a:endParaRPr lang="en-US" sz="1300" dirty="0"/>
          </a:p>
        </p:txBody>
      </p:sp>
      <p:pic>
        <p:nvPicPr>
          <p:cNvPr id="7" name="Image 0" descr="/home/claude/work/lighthouse_icon.png">    </p:cNvPr>
          <p:cNvPicPr>
            <a:picLocks noChangeAspect="1"/>
          </p:cNvPicPr>
          <p:nvPr/>
        </p:nvPicPr>
        <p:blipFill>
          <a:blip r:embed="rId1"/>
          <a:stretch>
            <a:fillRect/>
          </a:stretch>
        </p:blipFill>
        <p:spPr>
          <a:xfrm>
            <a:off x="8869680" y="1828800"/>
            <a:ext cx="2560320" cy="2560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Nine months ago: Hurricane Melissa</a:t>
            </a:r>
            <a:endParaRPr lang="en-US" sz="3200" dirty="0"/>
          </a:p>
        </p:txBody>
      </p:sp>
      <p:sp>
        <p:nvSpPr>
          <p:cNvPr id="3" name="Text 1"/>
          <p:cNvSpPr/>
          <p:nvPr/>
        </p:nvSpPr>
        <p:spPr>
          <a:xfrm>
            <a:off x="640080" y="1143000"/>
            <a:ext cx="10972800" cy="41148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October 28, 2025. The strongest hurricane ever recorded to hit Jamaica.</a:t>
            </a:r>
            <a:endParaRPr lang="en-US" sz="1500" dirty="0"/>
          </a:p>
        </p:txBody>
      </p:sp>
      <p:sp>
        <p:nvSpPr>
          <p:cNvPr id="4" name="Shape 2"/>
          <p:cNvSpPr/>
          <p:nvPr/>
        </p:nvSpPr>
        <p:spPr>
          <a:xfrm>
            <a:off x="356616" y="2148840"/>
            <a:ext cx="2697480" cy="2286000"/>
          </a:xfrm>
          <a:prstGeom prst="roundRect">
            <a:avLst>
              <a:gd name="adj" fmla="val 4800"/>
            </a:avLst>
          </a:prstGeom>
          <a:solidFill>
            <a:srgbClr val="16263D"/>
          </a:solidFill>
          <a:ln/>
        </p:spPr>
      </p:sp>
      <p:sp>
        <p:nvSpPr>
          <p:cNvPr id="5" name="Text 3"/>
          <p:cNvSpPr/>
          <p:nvPr/>
        </p:nvSpPr>
        <p:spPr>
          <a:xfrm>
            <a:off x="356616" y="2514600"/>
            <a:ext cx="2697480" cy="9144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45</a:t>
            </a:r>
            <a:endParaRPr lang="en-US" sz="4400" dirty="0"/>
          </a:p>
        </p:txBody>
      </p:sp>
      <p:sp>
        <p:nvSpPr>
          <p:cNvPr id="6" name="Text 4"/>
          <p:cNvSpPr/>
          <p:nvPr/>
        </p:nvSpPr>
        <p:spPr>
          <a:xfrm>
            <a:off x="493776" y="3520440"/>
            <a:ext cx="2423160" cy="64008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lives lost</a:t>
            </a:r>
            <a:endParaRPr lang="en-US" sz="1350" dirty="0"/>
          </a:p>
        </p:txBody>
      </p:sp>
      <p:sp>
        <p:nvSpPr>
          <p:cNvPr id="7" name="Shape 5"/>
          <p:cNvSpPr/>
          <p:nvPr/>
        </p:nvSpPr>
        <p:spPr>
          <a:xfrm>
            <a:off x="3282696" y="2148840"/>
            <a:ext cx="2697480" cy="2286000"/>
          </a:xfrm>
          <a:prstGeom prst="roundRect">
            <a:avLst>
              <a:gd name="adj" fmla="val 4800"/>
            </a:avLst>
          </a:prstGeom>
          <a:solidFill>
            <a:srgbClr val="16263D"/>
          </a:solidFill>
          <a:ln/>
        </p:spPr>
      </p:sp>
      <p:sp>
        <p:nvSpPr>
          <p:cNvPr id="8" name="Text 6"/>
          <p:cNvSpPr/>
          <p:nvPr/>
        </p:nvSpPr>
        <p:spPr>
          <a:xfrm>
            <a:off x="3282696" y="2514600"/>
            <a:ext cx="2697480" cy="9144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626,000+</a:t>
            </a:r>
            <a:endParaRPr lang="en-US" sz="4400" dirty="0"/>
          </a:p>
        </p:txBody>
      </p:sp>
      <p:sp>
        <p:nvSpPr>
          <p:cNvPr id="9" name="Text 7"/>
          <p:cNvSpPr/>
          <p:nvPr/>
        </p:nvSpPr>
        <p:spPr>
          <a:xfrm>
            <a:off x="3419856" y="3520440"/>
            <a:ext cx="2423160" cy="64008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people affected</a:t>
            </a:r>
            <a:endParaRPr lang="en-US" sz="1350" dirty="0"/>
          </a:p>
        </p:txBody>
      </p:sp>
      <p:sp>
        <p:nvSpPr>
          <p:cNvPr id="10" name="Shape 8"/>
          <p:cNvSpPr/>
          <p:nvPr/>
        </p:nvSpPr>
        <p:spPr>
          <a:xfrm>
            <a:off x="6208776" y="2148840"/>
            <a:ext cx="2697480" cy="2286000"/>
          </a:xfrm>
          <a:prstGeom prst="roundRect">
            <a:avLst>
              <a:gd name="adj" fmla="val 4800"/>
            </a:avLst>
          </a:prstGeom>
          <a:solidFill>
            <a:srgbClr val="16263D"/>
          </a:solidFill>
          <a:ln/>
        </p:spPr>
      </p:sp>
      <p:sp>
        <p:nvSpPr>
          <p:cNvPr id="11" name="Text 9"/>
          <p:cNvSpPr/>
          <p:nvPr/>
        </p:nvSpPr>
        <p:spPr>
          <a:xfrm>
            <a:off x="6208776" y="2514600"/>
            <a:ext cx="2697480" cy="9144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120,000</a:t>
            </a:r>
            <a:endParaRPr lang="en-US" sz="4400" dirty="0"/>
          </a:p>
        </p:txBody>
      </p:sp>
      <p:sp>
        <p:nvSpPr>
          <p:cNvPr id="12" name="Text 10"/>
          <p:cNvSpPr/>
          <p:nvPr/>
        </p:nvSpPr>
        <p:spPr>
          <a:xfrm>
            <a:off x="6345936" y="3520440"/>
            <a:ext cx="2423160" cy="64008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buildings lost their roofs</a:t>
            </a:r>
            <a:endParaRPr lang="en-US" sz="1350" dirty="0"/>
          </a:p>
        </p:txBody>
      </p:sp>
      <p:sp>
        <p:nvSpPr>
          <p:cNvPr id="13" name="Shape 11"/>
          <p:cNvSpPr/>
          <p:nvPr/>
        </p:nvSpPr>
        <p:spPr>
          <a:xfrm>
            <a:off x="9134856" y="2148840"/>
            <a:ext cx="2697480" cy="2286000"/>
          </a:xfrm>
          <a:prstGeom prst="roundRect">
            <a:avLst>
              <a:gd name="adj" fmla="val 4800"/>
            </a:avLst>
          </a:prstGeom>
          <a:solidFill>
            <a:srgbClr val="16263D"/>
          </a:solidFill>
          <a:ln/>
        </p:spPr>
      </p:sp>
      <p:sp>
        <p:nvSpPr>
          <p:cNvPr id="14" name="Text 12"/>
          <p:cNvSpPr/>
          <p:nvPr/>
        </p:nvSpPr>
        <p:spPr>
          <a:xfrm>
            <a:off x="9134856" y="2514600"/>
            <a:ext cx="2697480" cy="9144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~25%</a:t>
            </a:r>
            <a:endParaRPr lang="en-US" sz="4400" dirty="0"/>
          </a:p>
        </p:txBody>
      </p:sp>
      <p:sp>
        <p:nvSpPr>
          <p:cNvPr id="15" name="Text 13"/>
          <p:cNvSpPr/>
          <p:nvPr/>
        </p:nvSpPr>
        <p:spPr>
          <a:xfrm>
            <a:off x="9272016" y="3520440"/>
            <a:ext cx="2423160" cy="640080"/>
          </a:xfrm>
          <a:prstGeom prst="rect">
            <a:avLst/>
          </a:prstGeom>
          <a:noFill/>
          <a:ln/>
        </p:spPr>
        <p:txBody>
          <a:bodyPr wrap="square" lIns="0" tIns="0" rIns="0" bIns="0" rtlCol="0" anchor="ctr"/>
          <a:lstStyle/>
          <a:p>
            <a:pPr algn="ctr" indent="0" marL="0">
              <a:buNone/>
            </a:pPr>
            <a:r>
              <a:rPr lang="en-US" sz="1350" dirty="0">
                <a:solidFill>
                  <a:srgbClr val="CADCFC"/>
                </a:solidFill>
                <a:latin typeface="Calibri" pitchFamily="34" charset="0"/>
                <a:ea typeface="Calibri" pitchFamily="34" charset="-122"/>
                <a:cs typeface="Calibri" pitchFamily="34" charset="-120"/>
              </a:rPr>
              <a:t>of GDP in damage and loss</a:t>
            </a:r>
            <a:endParaRPr lang="en-US" sz="1350" dirty="0"/>
          </a:p>
        </p:txBody>
      </p:sp>
      <p:sp>
        <p:nvSpPr>
          <p:cNvPr id="16" name="Text 14"/>
          <p:cNvSpPr/>
          <p:nvPr/>
        </p:nvSpPr>
        <p:spPr>
          <a:xfrm>
            <a:off x="640080" y="5120640"/>
            <a:ext cx="10972800" cy="457200"/>
          </a:xfrm>
          <a:prstGeom prst="rect">
            <a:avLst/>
          </a:prstGeom>
          <a:noFill/>
          <a:ln/>
        </p:spPr>
        <p:txBody>
          <a:bodyPr wrap="square" lIns="0" tIns="0" rIns="0" bIns="0"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We prepared for it, sat through landfall, and spent months inside the aftermath.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paradox we cannot unsee</a:t>
            </a:r>
            <a:endParaRPr lang="en-US" sz="3200" dirty="0"/>
          </a:p>
        </p:txBody>
      </p:sp>
      <p:sp>
        <p:nvSpPr>
          <p:cNvPr id="3" name="Shape 1"/>
          <p:cNvSpPr/>
          <p:nvPr/>
        </p:nvSpPr>
        <p:spPr>
          <a:xfrm>
            <a:off x="731520" y="1508760"/>
            <a:ext cx="5120640" cy="3200400"/>
          </a:xfrm>
          <a:prstGeom prst="roundRect">
            <a:avLst>
              <a:gd name="adj" fmla="val 3429"/>
            </a:avLst>
          </a:prstGeom>
          <a:solidFill>
            <a:srgbClr val="16263D"/>
          </a:solidFill>
          <a:ln/>
        </p:spPr>
      </p:sp>
      <p:sp>
        <p:nvSpPr>
          <p:cNvPr id="4" name="Text 2"/>
          <p:cNvSpPr/>
          <p:nvPr/>
        </p:nvSpPr>
        <p:spPr>
          <a:xfrm>
            <a:off x="731520" y="1874520"/>
            <a:ext cx="5120640" cy="914400"/>
          </a:xfrm>
          <a:prstGeom prst="rect">
            <a:avLst/>
          </a:prstGeom>
          <a:noFill/>
          <a:ln/>
        </p:spPr>
        <p:txBody>
          <a:bodyPr wrap="square" lIns="0" tIns="0" rIns="0" bIns="0" rtlCol="0" anchor="ctr"/>
          <a:lstStyle/>
          <a:p>
            <a:pPr algn="ctr" indent="0" marL="0">
              <a:buNone/>
            </a:pPr>
            <a:r>
              <a:rPr lang="en-US" sz="5200" b="1" dirty="0">
                <a:solidFill>
                  <a:srgbClr val="38BDF8"/>
                </a:solidFill>
                <a:latin typeface="Calibri" pitchFamily="34" charset="0"/>
                <a:ea typeface="Calibri" pitchFamily="34" charset="-122"/>
                <a:cs typeface="Calibri" pitchFamily="34" charset="-120"/>
              </a:rPr>
              <a:t>US$150M</a:t>
            </a:r>
            <a:endParaRPr lang="en-US" sz="5200" dirty="0"/>
          </a:p>
        </p:txBody>
      </p:sp>
      <p:sp>
        <p:nvSpPr>
          <p:cNvPr id="5" name="Text 3"/>
          <p:cNvSpPr/>
          <p:nvPr/>
        </p:nvSpPr>
        <p:spPr>
          <a:xfrm>
            <a:off x="1005840" y="3017520"/>
            <a:ext cx="4572000" cy="1097280"/>
          </a:xfrm>
          <a:prstGeom prst="rect">
            <a:avLst/>
          </a:prstGeom>
          <a:noFill/>
          <a:ln/>
        </p:spPr>
        <p:txBody>
          <a:bodyPr wrap="square" lIns="0" tIns="0" rIns="0" bIns="0" rtlCol="0" anchor="ctr"/>
          <a:lstStyle/>
          <a:p>
            <a:pPr algn="ctr" indent="0" marL="0">
              <a:buNone/>
            </a:pPr>
            <a:r>
              <a:rPr lang="en-US" sz="1450" dirty="0">
                <a:solidFill>
                  <a:srgbClr val="CADCFC"/>
                </a:solidFill>
                <a:latin typeface="Calibri" pitchFamily="34" charset="0"/>
                <a:ea typeface="Calibri" pitchFamily="34" charset="-122"/>
                <a:cs typeface="Calibri" pitchFamily="34" charset="-120"/>
              </a:rPr>
              <a:t>World Bank catastrophe bond, paid 100%,</a:t>
            </a:r>
            <a:endParaRPr lang="en-US" sz="1450" dirty="0"/>
          </a:p>
          <a:p>
            <a:pPr algn="ctr" indent="0" marL="0">
              <a:buNone/>
            </a:pPr>
            <a:r>
              <a:rPr lang="en-US" sz="1450" dirty="0">
                <a:solidFill>
                  <a:srgbClr val="CADCFC"/>
                </a:solidFill>
                <a:latin typeface="Calibri" pitchFamily="34" charset="0"/>
                <a:ea typeface="Calibri" pitchFamily="34" charset="-122"/>
                <a:cs typeface="Calibri" pitchFamily="34" charset="-120"/>
              </a:rPr>
              <a:t>announced about ten days after landfall</a:t>
            </a:r>
            <a:endParaRPr lang="en-US" sz="1450" dirty="0"/>
          </a:p>
        </p:txBody>
      </p:sp>
      <p:sp>
        <p:nvSpPr>
          <p:cNvPr id="6" name="Shape 4"/>
          <p:cNvSpPr/>
          <p:nvPr/>
        </p:nvSpPr>
        <p:spPr>
          <a:xfrm>
            <a:off x="6355080" y="1508760"/>
            <a:ext cx="5120640" cy="3200400"/>
          </a:xfrm>
          <a:prstGeom prst="roundRect">
            <a:avLst>
              <a:gd name="adj" fmla="val 3429"/>
            </a:avLst>
          </a:prstGeom>
          <a:solidFill>
            <a:srgbClr val="16263D"/>
          </a:solidFill>
          <a:ln/>
        </p:spPr>
      </p:sp>
      <p:sp>
        <p:nvSpPr>
          <p:cNvPr id="7" name="Text 5"/>
          <p:cNvSpPr/>
          <p:nvPr/>
        </p:nvSpPr>
        <p:spPr>
          <a:xfrm>
            <a:off x="6355080" y="1828800"/>
            <a:ext cx="5120640" cy="1005840"/>
          </a:xfrm>
          <a:prstGeom prst="rect">
            <a:avLst/>
          </a:prstGeom>
          <a:noFill/>
          <a:ln/>
        </p:spPr>
        <p:txBody>
          <a:bodyPr wrap="square" lIns="0" tIns="0" rIns="0" bIns="0" rtlCol="0" anchor="ctr"/>
          <a:lstStyle/>
          <a:p>
            <a:pPr algn="ctr" indent="0" marL="0">
              <a:buNone/>
            </a:pPr>
            <a:r>
              <a:rPr lang="en-US" sz="5800" b="1" dirty="0">
                <a:solidFill>
                  <a:srgbClr val="FB7185"/>
                </a:solidFill>
                <a:latin typeface="Calibri" pitchFamily="34" charset="0"/>
                <a:ea typeface="Calibri" pitchFamily="34" charset="-122"/>
                <a:cs typeface="Calibri" pitchFamily="34" charset="-120"/>
              </a:rPr>
              <a:t>1.8%</a:t>
            </a:r>
            <a:endParaRPr lang="en-US" sz="5800" dirty="0"/>
          </a:p>
        </p:txBody>
      </p:sp>
      <p:sp>
        <p:nvSpPr>
          <p:cNvPr id="8" name="Text 6"/>
          <p:cNvSpPr/>
          <p:nvPr/>
        </p:nvSpPr>
        <p:spPr>
          <a:xfrm>
            <a:off x="6629400" y="3017520"/>
            <a:ext cx="4572000" cy="1097280"/>
          </a:xfrm>
          <a:prstGeom prst="rect">
            <a:avLst/>
          </a:prstGeom>
          <a:noFill/>
          <a:ln/>
        </p:spPr>
        <p:txBody>
          <a:bodyPr wrap="square" lIns="0" tIns="0" rIns="0" bIns="0" rtlCol="0" anchor="ctr"/>
          <a:lstStyle/>
          <a:p>
            <a:pPr algn="ctr" indent="0" marL="0">
              <a:buNone/>
            </a:pPr>
            <a:r>
              <a:rPr lang="en-US" sz="1450" dirty="0">
                <a:solidFill>
                  <a:srgbClr val="CADCFC"/>
                </a:solidFill>
                <a:latin typeface="Calibri" pitchFamily="34" charset="0"/>
                <a:ea typeface="Calibri" pitchFamily="34" charset="-122"/>
                <a:cs typeface="Calibri" pitchFamily="34" charset="-120"/>
              </a:rPr>
              <a:t>of J$1.44 billion in cash donations had</a:t>
            </a:r>
            <a:endParaRPr lang="en-US" sz="1450" dirty="0"/>
          </a:p>
          <a:p>
            <a:pPr algn="ctr" indent="0" marL="0">
              <a:buNone/>
            </a:pPr>
            <a:r>
              <a:rPr lang="en-US" sz="1450" dirty="0">
                <a:solidFill>
                  <a:srgbClr val="CADCFC"/>
                </a:solidFill>
                <a:latin typeface="Calibri" pitchFamily="34" charset="0"/>
                <a:ea typeface="Calibri" pitchFamily="34" charset="-122"/>
                <a:cs typeface="Calibri" pitchFamily="34" charset="-120"/>
              </a:rPr>
              <a:t>reached households four months later</a:t>
            </a:r>
            <a:endParaRPr lang="en-US" sz="1450" dirty="0"/>
          </a:p>
        </p:txBody>
      </p:sp>
      <p:sp>
        <p:nvSpPr>
          <p:cNvPr id="9" name="Text 7"/>
          <p:cNvSpPr/>
          <p:nvPr/>
        </p:nvSpPr>
        <p:spPr>
          <a:xfrm>
            <a:off x="640080" y="5074920"/>
            <a:ext cx="109728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The money is fast. The distribution is broken.</a:t>
            </a:r>
            <a:endParaRPr lang="en-US" sz="2000" dirty="0"/>
          </a:p>
        </p:txBody>
      </p:sp>
      <p:sp>
        <p:nvSpPr>
          <p:cNvPr id="10" name="Text 8"/>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Lighthouse is the missing rail between capital and households.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One object: the Household Storm File</a:t>
            </a:r>
            <a:endParaRPr lang="en-US" sz="3200" dirty="0"/>
          </a:p>
        </p:txBody>
      </p:sp>
      <p:sp>
        <p:nvSpPr>
          <p:cNvPr id="3" name="Text 1"/>
          <p:cNvSpPr/>
          <p:nvPr/>
        </p:nvSpPr>
        <p:spPr>
          <a:xfrm>
            <a:off x="640080" y="1170432"/>
            <a:ext cx="10972800" cy="41148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One record per household, moving through five states as the storm approaches, hits, and passes.</a:t>
            </a:r>
            <a:endParaRPr lang="en-US" sz="1500" dirty="0"/>
          </a:p>
        </p:txBody>
      </p:sp>
      <p:sp>
        <p:nvSpPr>
          <p:cNvPr id="4" name="Shape 2"/>
          <p:cNvSpPr/>
          <p:nvPr/>
        </p:nvSpPr>
        <p:spPr>
          <a:xfrm>
            <a:off x="457200" y="2514600"/>
            <a:ext cx="1874520" cy="777240"/>
          </a:xfrm>
          <a:prstGeom prst="roundRect">
            <a:avLst>
              <a:gd name="adj" fmla="val 47059"/>
            </a:avLst>
          </a:prstGeom>
          <a:solidFill>
            <a:srgbClr val="16263D"/>
          </a:solidFill>
          <a:ln w="19050">
            <a:solidFill>
              <a:srgbClr val="F59E0B"/>
            </a:solidFill>
            <a:prstDash val="solid"/>
          </a:ln>
        </p:spPr>
      </p:sp>
      <p:sp>
        <p:nvSpPr>
          <p:cNvPr id="5" name="Text 3"/>
          <p:cNvSpPr/>
          <p:nvPr/>
        </p:nvSpPr>
        <p:spPr>
          <a:xfrm>
            <a:off x="457200" y="2514600"/>
            <a:ext cx="187452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REGISTERED</a:t>
            </a:r>
            <a:endParaRPr lang="en-US" sz="1450" dirty="0"/>
          </a:p>
        </p:txBody>
      </p:sp>
      <p:sp>
        <p:nvSpPr>
          <p:cNvPr id="6" name="Text 4"/>
          <p:cNvSpPr/>
          <p:nvPr/>
        </p:nvSpPr>
        <p:spPr>
          <a:xfrm>
            <a:off x="2331720" y="2542032"/>
            <a:ext cx="475488" cy="73152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2807208" y="2514600"/>
            <a:ext cx="1874520" cy="777240"/>
          </a:xfrm>
          <a:prstGeom prst="roundRect">
            <a:avLst>
              <a:gd name="adj" fmla="val 47059"/>
            </a:avLst>
          </a:prstGeom>
          <a:solidFill>
            <a:srgbClr val="16263D"/>
          </a:solidFill>
          <a:ln w="19050">
            <a:solidFill>
              <a:srgbClr val="F59E0B"/>
            </a:solidFill>
            <a:prstDash val="solid"/>
          </a:ln>
        </p:spPr>
      </p:sp>
      <p:sp>
        <p:nvSpPr>
          <p:cNvPr id="8" name="Text 6"/>
          <p:cNvSpPr/>
          <p:nvPr/>
        </p:nvSpPr>
        <p:spPr>
          <a:xfrm>
            <a:off x="2807208" y="2514600"/>
            <a:ext cx="187452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AT-RISK</a:t>
            </a:r>
            <a:endParaRPr lang="en-US" sz="1450" dirty="0"/>
          </a:p>
        </p:txBody>
      </p:sp>
      <p:sp>
        <p:nvSpPr>
          <p:cNvPr id="9" name="Text 7"/>
          <p:cNvSpPr/>
          <p:nvPr/>
        </p:nvSpPr>
        <p:spPr>
          <a:xfrm>
            <a:off x="4681728" y="2542032"/>
            <a:ext cx="475488" cy="73152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5157216" y="2514600"/>
            <a:ext cx="1874520" cy="777240"/>
          </a:xfrm>
          <a:prstGeom prst="roundRect">
            <a:avLst>
              <a:gd name="adj" fmla="val 47059"/>
            </a:avLst>
          </a:prstGeom>
          <a:solidFill>
            <a:srgbClr val="16263D"/>
          </a:solidFill>
          <a:ln w="19050">
            <a:solidFill>
              <a:srgbClr val="F59E0B"/>
            </a:solidFill>
            <a:prstDash val="solid"/>
          </a:ln>
        </p:spPr>
      </p:sp>
      <p:sp>
        <p:nvSpPr>
          <p:cNvPr id="11" name="Text 9"/>
          <p:cNvSpPr/>
          <p:nvPr/>
        </p:nvSpPr>
        <p:spPr>
          <a:xfrm>
            <a:off x="5157216" y="2514600"/>
            <a:ext cx="187452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AFFECTED</a:t>
            </a:r>
            <a:endParaRPr lang="en-US" sz="1450" dirty="0"/>
          </a:p>
        </p:txBody>
      </p:sp>
      <p:sp>
        <p:nvSpPr>
          <p:cNvPr id="12" name="Text 10"/>
          <p:cNvSpPr/>
          <p:nvPr/>
        </p:nvSpPr>
        <p:spPr>
          <a:xfrm>
            <a:off x="7031736" y="2542032"/>
            <a:ext cx="475488" cy="73152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7507224" y="2514600"/>
            <a:ext cx="1874520" cy="777240"/>
          </a:xfrm>
          <a:prstGeom prst="roundRect">
            <a:avLst>
              <a:gd name="adj" fmla="val 47059"/>
            </a:avLst>
          </a:prstGeom>
          <a:solidFill>
            <a:srgbClr val="16263D"/>
          </a:solidFill>
          <a:ln w="19050">
            <a:solidFill>
              <a:srgbClr val="F59E0B"/>
            </a:solidFill>
            <a:prstDash val="solid"/>
          </a:ln>
        </p:spPr>
      </p:sp>
      <p:sp>
        <p:nvSpPr>
          <p:cNvPr id="14" name="Text 12"/>
          <p:cNvSpPr/>
          <p:nvPr/>
        </p:nvSpPr>
        <p:spPr>
          <a:xfrm>
            <a:off x="7507224" y="2514600"/>
            <a:ext cx="187452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VERIFIED</a:t>
            </a:r>
            <a:endParaRPr lang="en-US" sz="1450" dirty="0"/>
          </a:p>
        </p:txBody>
      </p:sp>
      <p:sp>
        <p:nvSpPr>
          <p:cNvPr id="15" name="Text 13"/>
          <p:cNvSpPr/>
          <p:nvPr/>
        </p:nvSpPr>
        <p:spPr>
          <a:xfrm>
            <a:off x="9381744" y="2542032"/>
            <a:ext cx="475488" cy="73152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857232" y="2514600"/>
            <a:ext cx="1874520" cy="777240"/>
          </a:xfrm>
          <a:prstGeom prst="roundRect">
            <a:avLst>
              <a:gd name="adj" fmla="val 47059"/>
            </a:avLst>
          </a:prstGeom>
          <a:solidFill>
            <a:srgbClr val="16263D"/>
          </a:solidFill>
          <a:ln w="19050">
            <a:solidFill>
              <a:srgbClr val="F59E0B"/>
            </a:solidFill>
            <a:prstDash val="solid"/>
          </a:ln>
        </p:spPr>
      </p:sp>
      <p:sp>
        <p:nvSpPr>
          <p:cNvPr id="17" name="Text 15"/>
          <p:cNvSpPr/>
          <p:nvPr/>
        </p:nvSpPr>
        <p:spPr>
          <a:xfrm>
            <a:off x="9857232" y="2514600"/>
            <a:ext cx="187452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SETTLED</a:t>
            </a:r>
            <a:endParaRPr lang="en-US" sz="1450" dirty="0"/>
          </a:p>
        </p:txBody>
      </p:sp>
      <p:sp>
        <p:nvSpPr>
          <p:cNvPr id="18" name="Text 16"/>
          <p:cNvSpPr/>
          <p:nvPr/>
        </p:nvSpPr>
        <p:spPr>
          <a:xfrm>
            <a:off x="640080" y="3886200"/>
            <a:ext cx="10972800" cy="640080"/>
          </a:xfrm>
          <a:prstGeom prst="rect">
            <a:avLst/>
          </a:prstGeom>
          <a:noFill/>
          <a:ln/>
        </p:spPr>
        <p:txBody>
          <a:bodyPr wrap="square" lIns="0" tIns="0" rIns="0" bIns="0" rtlCol="0" anchor="ctr"/>
          <a:lstStyle/>
          <a:p>
            <a:pPr algn="ctr" indent="0" marL="0">
              <a:buNone/>
            </a:pPr>
            <a:r>
              <a:rPr lang="en-US" sz="2400" b="1" i="1" dirty="0">
                <a:solidFill>
                  <a:srgbClr val="F59E0B"/>
                </a:solidFill>
                <a:latin typeface="Calibri" pitchFamily="34" charset="0"/>
                <a:ea typeface="Calibri" pitchFamily="34" charset="-122"/>
                <a:cs typeface="Calibri" pitchFamily="34" charset="-120"/>
              </a:rPr>
              <a:t>The report becomes the claim becomes the payment.</a:t>
            </a:r>
            <a:endParaRPr lang="en-US" sz="2400" dirty="0"/>
          </a:p>
        </p:txBody>
      </p:sp>
      <p:sp>
        <p:nvSpPr>
          <p:cNvPr id="19" name="Text 17"/>
          <p:cNvSpPr/>
          <p:nvPr/>
        </p:nvSpPr>
        <p:spPr>
          <a:xfrm>
            <a:off x="640080" y="4892040"/>
            <a:ext cx="10972800" cy="457200"/>
          </a:xfrm>
          <a:prstGeom prst="rect">
            <a:avLst/>
          </a:prstGeom>
          <a:noFill/>
          <a:ln/>
        </p:spPr>
        <p:txBody>
          <a:bodyPr wrap="square" lIns="0" tIns="0" rIns="0" bIns="0" rtlCol="0" anchor="ctr"/>
          <a:lstStyle/>
          <a:p>
            <a:pPr algn="ctr" indent="0" marL="0">
              <a:buNone/>
            </a:pPr>
            <a:r>
              <a:rPr lang="en-US" sz="1450" dirty="0">
                <a:solidFill>
                  <a:srgbClr val="CADCFC"/>
                </a:solidFill>
                <a:latin typeface="Calibri" pitchFamily="34" charset="0"/>
                <a:ea typeface="Calibri" pitchFamily="34" charset="-122"/>
                <a:cs typeface="Calibri" pitchFamily="34" charset="-120"/>
              </a:rPr>
              <a:t>WhatsApp native. Patois and English. No app download. Humans approve everything that moves money.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320040"/>
            <a:ext cx="109728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Agents do the cognition. Humans hold the money gates.</a:t>
            </a:r>
            <a:endParaRPr lang="en-US" sz="2600" dirty="0"/>
          </a:p>
        </p:txBody>
      </p:sp>
      <p:sp>
        <p:nvSpPr>
          <p:cNvPr id="3" name="Shape 1"/>
          <p:cNvSpPr/>
          <p:nvPr/>
        </p:nvSpPr>
        <p:spPr>
          <a:xfrm>
            <a:off x="1783080" y="1005840"/>
            <a:ext cx="8622792" cy="5577840"/>
          </a:xfrm>
          <a:prstGeom prst="roundRect">
            <a:avLst>
              <a:gd name="adj" fmla="val 1311"/>
            </a:avLst>
          </a:prstGeom>
          <a:solidFill>
            <a:srgbClr val="FFFFFF"/>
          </a:solidFill>
          <a:ln/>
        </p:spPr>
      </p:sp>
      <p:pic>
        <p:nvPicPr>
          <p:cNvPr id="4" name="Image 0" descr="/home/claude/work/lighthouse-agentic-workflow.png">    </p:cNvPr>
          <p:cNvPicPr>
            <a:picLocks noChangeAspect="1"/>
          </p:cNvPicPr>
          <p:nvPr/>
        </p:nvPicPr>
        <p:blipFill>
          <a:blip r:embed="rId1"/>
          <a:stretch>
            <a:fillRect/>
          </a:stretch>
        </p:blipFill>
        <p:spPr>
          <a:xfrm>
            <a:off x="1920240" y="1143000"/>
            <a:ext cx="8348472" cy="53400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Why it matters, and where it goes</a:t>
            </a:r>
            <a:endParaRPr lang="en-US" sz="3200" dirty="0"/>
          </a:p>
        </p:txBody>
      </p:sp>
      <p:sp>
        <p:nvSpPr>
          <p:cNvPr id="3" name="Text 1"/>
          <p:cNvSpPr/>
          <p:nvPr/>
        </p:nvSpPr>
        <p:spPr>
          <a:xfrm>
            <a:off x="640080" y="1737360"/>
            <a:ext cx="1371600" cy="914400"/>
          </a:xfrm>
          <a:prstGeom prst="rect">
            <a:avLst/>
          </a:prstGeom>
          <a:noFill/>
          <a:ln/>
        </p:spPr>
        <p:txBody>
          <a:bodyPr wrap="square" lIns="0" tIns="0" rIns="0" bIns="0"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19</a:t>
            </a:r>
            <a:endParaRPr lang="en-US" sz="4400" dirty="0"/>
          </a:p>
        </p:txBody>
      </p:sp>
      <p:sp>
        <p:nvSpPr>
          <p:cNvPr id="4" name="Text 2"/>
          <p:cNvSpPr/>
          <p:nvPr/>
        </p:nvSpPr>
        <p:spPr>
          <a:xfrm>
            <a:off x="2103120" y="1847088"/>
            <a:ext cx="4206240" cy="100584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CDEMA member states share this exact gap</a:t>
            </a:r>
            <a:endParaRPr lang="en-US" sz="1500" dirty="0"/>
          </a:p>
        </p:txBody>
      </p:sp>
      <p:sp>
        <p:nvSpPr>
          <p:cNvPr id="5" name="Text 3"/>
          <p:cNvSpPr/>
          <p:nvPr/>
        </p:nvSpPr>
        <p:spPr>
          <a:xfrm>
            <a:off x="640080" y="3063240"/>
            <a:ext cx="1371600" cy="914400"/>
          </a:xfrm>
          <a:prstGeom prst="rect">
            <a:avLst/>
          </a:prstGeom>
          <a:noFill/>
          <a:ln/>
        </p:spPr>
        <p:txBody>
          <a:bodyPr wrap="square" lIns="0" tIns="0" rIns="0" bIns="0"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58</a:t>
            </a:r>
            <a:endParaRPr lang="en-US" sz="4400" dirty="0"/>
          </a:p>
        </p:txBody>
      </p:sp>
      <p:sp>
        <p:nvSpPr>
          <p:cNvPr id="6" name="Text 4"/>
          <p:cNvSpPr/>
          <p:nvPr/>
        </p:nvSpPr>
        <p:spPr>
          <a:xfrm>
            <a:off x="2103120" y="3172968"/>
            <a:ext cx="4206240" cy="100584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small island developing states face the same pattern worldwide</a:t>
            </a:r>
            <a:endParaRPr lang="en-US" sz="1500" dirty="0"/>
          </a:p>
        </p:txBody>
      </p:sp>
      <p:sp>
        <p:nvSpPr>
          <p:cNvPr id="7" name="Text 5"/>
          <p:cNvSpPr/>
          <p:nvPr/>
        </p:nvSpPr>
        <p:spPr>
          <a:xfrm>
            <a:off x="640080" y="4389120"/>
            <a:ext cx="1371600" cy="914400"/>
          </a:xfrm>
          <a:prstGeom prst="rect">
            <a:avLst/>
          </a:prstGeom>
          <a:noFill/>
          <a:ln/>
        </p:spPr>
        <p:txBody>
          <a:bodyPr wrap="square" lIns="0" tIns="0" rIns="0" bIns="0"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1</a:t>
            </a:r>
            <a:endParaRPr lang="en-US" sz="4400" dirty="0"/>
          </a:p>
        </p:txBody>
      </p:sp>
      <p:sp>
        <p:nvSpPr>
          <p:cNvPr id="8" name="Text 6"/>
          <p:cNvSpPr/>
          <p:nvPr/>
        </p:nvSpPr>
        <p:spPr>
          <a:xfrm>
            <a:off x="2103120" y="4498848"/>
            <a:ext cx="4206240" cy="100584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shared regional platform is the only economics that work</a:t>
            </a:r>
            <a:endParaRPr lang="en-US" sz="1500" dirty="0"/>
          </a:p>
        </p:txBody>
      </p:sp>
      <p:sp>
        <p:nvSpPr>
          <p:cNvPr id="9" name="Shape 7"/>
          <p:cNvSpPr/>
          <p:nvPr/>
        </p:nvSpPr>
        <p:spPr>
          <a:xfrm>
            <a:off x="6766560" y="1737360"/>
            <a:ext cx="4754880" cy="3108960"/>
          </a:xfrm>
          <a:prstGeom prst="roundRect">
            <a:avLst>
              <a:gd name="adj" fmla="val 3529"/>
            </a:avLst>
          </a:prstGeom>
          <a:solidFill>
            <a:srgbClr val="16263D"/>
          </a:solidFill>
          <a:ln/>
        </p:spPr>
      </p:sp>
      <p:sp>
        <p:nvSpPr>
          <p:cNvPr id="10" name="Text 8"/>
          <p:cNvSpPr/>
          <p:nvPr/>
        </p:nvSpPr>
        <p:spPr>
          <a:xfrm>
            <a:off x="6766560" y="2057400"/>
            <a:ext cx="4754880" cy="365760"/>
          </a:xfrm>
          <a:prstGeom prst="rect">
            <a:avLst/>
          </a:prstGeom>
          <a:noFill/>
          <a:ln/>
        </p:spPr>
        <p:txBody>
          <a:bodyPr wrap="square" lIns="0" tIns="0" rIns="0" bIns="0" rtlCol="0" anchor="ctr"/>
          <a:lstStyle/>
          <a:p>
            <a:pPr algn="ctr" indent="0" marL="0">
              <a:buNone/>
            </a:pPr>
            <a:r>
              <a:rPr lang="en-US" sz="1300" b="1" spc="300" kern="0" dirty="0">
                <a:solidFill>
                  <a:srgbClr val="F59E0B"/>
                </a:solidFill>
                <a:latin typeface="Calibri" pitchFamily="34" charset="0"/>
                <a:ea typeface="Calibri" pitchFamily="34" charset="-122"/>
                <a:cs typeface="Calibri" pitchFamily="34" charset="-120"/>
              </a:rPr>
              <a:t>OUR METRIC</a:t>
            </a:r>
            <a:endParaRPr lang="en-US" sz="1300" dirty="0"/>
          </a:p>
        </p:txBody>
      </p:sp>
      <p:sp>
        <p:nvSpPr>
          <p:cNvPr id="11" name="Text 9"/>
          <p:cNvSpPr/>
          <p:nvPr/>
        </p:nvSpPr>
        <p:spPr>
          <a:xfrm>
            <a:off x="6766560" y="2468880"/>
            <a:ext cx="475488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Time to Relief</a:t>
            </a:r>
            <a:endParaRPr lang="en-US" sz="2600" dirty="0"/>
          </a:p>
        </p:txBody>
      </p:sp>
      <p:sp>
        <p:nvSpPr>
          <p:cNvPr id="12" name="Text 10"/>
          <p:cNvSpPr/>
          <p:nvPr/>
        </p:nvSpPr>
        <p:spPr>
          <a:xfrm>
            <a:off x="6766560" y="3200400"/>
            <a:ext cx="4754880" cy="822960"/>
          </a:xfrm>
          <a:prstGeom prst="rect">
            <a:avLst/>
          </a:prstGeom>
          <a:noFill/>
          <a:ln/>
        </p:spPr>
        <p:txBody>
          <a:bodyPr wrap="square" lIns="0" tIns="0" rIns="0" bIns="0"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months  →  72 hours</a:t>
            </a:r>
            <a:endParaRPr lang="en-US" sz="3800" dirty="0"/>
          </a:p>
        </p:txBody>
      </p:sp>
      <p:sp>
        <p:nvSpPr>
          <p:cNvPr id="13" name="Text 11"/>
          <p:cNvSpPr/>
          <p:nvPr/>
        </p:nvSpPr>
        <p:spPr>
          <a:xfrm>
            <a:off x="640080" y="5349240"/>
            <a:ext cx="10972800" cy="45720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In five years: the settlement layer for disaster capital in small states, from CDEMA to the wider island world.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411480"/>
            <a:ext cx="10972800" cy="5943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Why us</a:t>
            </a:r>
            <a:endParaRPr lang="en-US" sz="3200" dirty="0"/>
          </a:p>
        </p:txBody>
      </p:sp>
      <p:sp>
        <p:nvSpPr>
          <p:cNvPr id="3" name="Shape 1"/>
          <p:cNvSpPr/>
          <p:nvPr/>
        </p:nvSpPr>
        <p:spPr>
          <a:xfrm>
            <a:off x="402336" y="1234440"/>
            <a:ext cx="3611880" cy="2148840"/>
          </a:xfrm>
          <a:prstGeom prst="roundRect">
            <a:avLst>
              <a:gd name="adj" fmla="val 5106"/>
            </a:avLst>
          </a:prstGeom>
          <a:solidFill>
            <a:srgbClr val="16263D"/>
          </a:solidFill>
          <a:ln/>
        </p:spPr>
      </p:sp>
      <p:sp>
        <p:nvSpPr>
          <p:cNvPr id="4" name="Text 2"/>
          <p:cNvSpPr/>
          <p:nvPr/>
        </p:nvSpPr>
        <p:spPr>
          <a:xfrm>
            <a:off x="630936" y="1508760"/>
            <a:ext cx="3154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Sammarieo Brown</a:t>
            </a:r>
            <a:endParaRPr lang="en-US" sz="1800" dirty="0"/>
          </a:p>
        </p:txBody>
      </p:sp>
      <p:sp>
        <p:nvSpPr>
          <p:cNvPr id="5" name="Text 3"/>
          <p:cNvSpPr/>
          <p:nvPr/>
        </p:nvSpPr>
        <p:spPr>
          <a:xfrm>
            <a:off x="630936" y="1938528"/>
            <a:ext cx="3154680" cy="36576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Product &amp; Software Engineer</a:t>
            </a:r>
            <a:endParaRPr lang="en-US" sz="1300" dirty="0"/>
          </a:p>
        </p:txBody>
      </p:sp>
      <p:sp>
        <p:nvSpPr>
          <p:cNvPr id="6" name="Text 4"/>
          <p:cNvSpPr/>
          <p:nvPr/>
        </p:nvSpPr>
        <p:spPr>
          <a:xfrm>
            <a:off x="630936" y="2359152"/>
            <a:ext cx="3154680" cy="8686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Banking and payments (JN Bank, Lunipay), data science and ML</a:t>
            </a:r>
            <a:endParaRPr lang="en-US" sz="1250" dirty="0"/>
          </a:p>
        </p:txBody>
      </p:sp>
      <p:sp>
        <p:nvSpPr>
          <p:cNvPr id="7" name="Shape 5"/>
          <p:cNvSpPr/>
          <p:nvPr/>
        </p:nvSpPr>
        <p:spPr>
          <a:xfrm>
            <a:off x="4288536" y="1234440"/>
            <a:ext cx="3611880" cy="2148840"/>
          </a:xfrm>
          <a:prstGeom prst="roundRect">
            <a:avLst>
              <a:gd name="adj" fmla="val 5106"/>
            </a:avLst>
          </a:prstGeom>
          <a:solidFill>
            <a:srgbClr val="16263D"/>
          </a:solidFill>
          <a:ln/>
        </p:spPr>
      </p:sp>
      <p:sp>
        <p:nvSpPr>
          <p:cNvPr id="8" name="Text 6"/>
          <p:cNvSpPr/>
          <p:nvPr/>
        </p:nvSpPr>
        <p:spPr>
          <a:xfrm>
            <a:off x="4517136" y="1508760"/>
            <a:ext cx="3154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Raheem Wilson</a:t>
            </a:r>
            <a:endParaRPr lang="en-US" sz="1800" dirty="0"/>
          </a:p>
        </p:txBody>
      </p:sp>
      <p:sp>
        <p:nvSpPr>
          <p:cNvPr id="9" name="Text 7"/>
          <p:cNvSpPr/>
          <p:nvPr/>
        </p:nvSpPr>
        <p:spPr>
          <a:xfrm>
            <a:off x="4517136" y="1938528"/>
            <a:ext cx="3154680" cy="36576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Product &amp; Software Engineer</a:t>
            </a:r>
            <a:endParaRPr lang="en-US" sz="1300" dirty="0"/>
          </a:p>
        </p:txBody>
      </p:sp>
      <p:sp>
        <p:nvSpPr>
          <p:cNvPr id="10" name="Text 8"/>
          <p:cNvSpPr/>
          <p:nvPr/>
        </p:nvSpPr>
        <p:spPr>
          <a:xfrm>
            <a:off x="4517136" y="2359152"/>
            <a:ext cx="3154680" cy="8686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Software Engineer at Norus and Intelibus; full stack product engineering</a:t>
            </a:r>
            <a:endParaRPr lang="en-US" sz="1250" dirty="0"/>
          </a:p>
        </p:txBody>
      </p:sp>
      <p:sp>
        <p:nvSpPr>
          <p:cNvPr id="11" name="Shape 9"/>
          <p:cNvSpPr/>
          <p:nvPr/>
        </p:nvSpPr>
        <p:spPr>
          <a:xfrm>
            <a:off x="8174736" y="1234440"/>
            <a:ext cx="3611880" cy="2148840"/>
          </a:xfrm>
          <a:prstGeom prst="roundRect">
            <a:avLst>
              <a:gd name="adj" fmla="val 5106"/>
            </a:avLst>
          </a:prstGeom>
          <a:solidFill>
            <a:srgbClr val="16263D"/>
          </a:solidFill>
          <a:ln/>
        </p:spPr>
      </p:sp>
      <p:sp>
        <p:nvSpPr>
          <p:cNvPr id="12" name="Text 10"/>
          <p:cNvSpPr/>
          <p:nvPr/>
        </p:nvSpPr>
        <p:spPr>
          <a:xfrm>
            <a:off x="8403336" y="1508760"/>
            <a:ext cx="3154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Matthew Stone</a:t>
            </a:r>
            <a:endParaRPr lang="en-US" sz="1800" dirty="0"/>
          </a:p>
        </p:txBody>
      </p:sp>
      <p:sp>
        <p:nvSpPr>
          <p:cNvPr id="13" name="Text 11"/>
          <p:cNvSpPr/>
          <p:nvPr/>
        </p:nvSpPr>
        <p:spPr>
          <a:xfrm>
            <a:off x="8403336" y="1938528"/>
            <a:ext cx="3154680" cy="36576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Product &amp; AI Engineer</a:t>
            </a:r>
            <a:endParaRPr lang="en-US" sz="1300" dirty="0"/>
          </a:p>
        </p:txBody>
      </p:sp>
      <p:sp>
        <p:nvSpPr>
          <p:cNvPr id="14" name="Text 12"/>
          <p:cNvSpPr/>
          <p:nvPr/>
        </p:nvSpPr>
        <p:spPr>
          <a:xfrm>
            <a:off x="8403336" y="2359152"/>
            <a:ext cx="3154680" cy="8686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Founder &amp; President, Jamaica AI Association; applied AI and agent systems</a:t>
            </a:r>
            <a:endParaRPr lang="en-US" sz="1250" dirty="0"/>
          </a:p>
        </p:txBody>
      </p:sp>
      <p:sp>
        <p:nvSpPr>
          <p:cNvPr id="15" name="Text 13"/>
          <p:cNvSpPr/>
          <p:nvPr/>
        </p:nvSpPr>
        <p:spPr>
          <a:xfrm>
            <a:off x="640080" y="3794760"/>
            <a:ext cx="10972800" cy="457200"/>
          </a:xfrm>
          <a:prstGeom prst="rect">
            <a:avLst/>
          </a:prstGeom>
          <a:noFill/>
          <a:ln/>
        </p:spPr>
        <p:txBody>
          <a:bodyPr wrap="square" lIns="0" tIns="0" rIns="0" bIns="0"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One timezone. The pilot country. We lived this storm. Already building against NOAA data feeds.</a:t>
            </a:r>
            <a:endParaRPr lang="en-US" sz="1500" dirty="0"/>
          </a:p>
        </p:txBody>
      </p:sp>
      <p:sp>
        <p:nvSpPr>
          <p:cNvPr id="16" name="Text 14"/>
          <p:cNvSpPr/>
          <p:nvPr/>
        </p:nvSpPr>
        <p:spPr>
          <a:xfrm>
            <a:off x="640080" y="4572000"/>
            <a:ext cx="10972800" cy="822960"/>
          </a:xfrm>
          <a:prstGeom prst="rect">
            <a:avLst/>
          </a:prstGeom>
          <a:noFill/>
          <a:ln/>
        </p:spPr>
        <p:txBody>
          <a:bodyPr wrap="square" lIns="0" tIns="0" rIns="0" bIns="0"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The next storm will not wait.</a:t>
            </a:r>
            <a:endParaRPr lang="en-US" sz="3600" dirty="0"/>
          </a:p>
        </p:txBody>
      </p:sp>
      <p:sp>
        <p:nvSpPr>
          <p:cNvPr id="17" name="Text 15"/>
          <p:cNvSpPr/>
          <p:nvPr/>
        </p:nvSpPr>
        <p:spPr>
          <a:xfrm>
            <a:off x="640080" y="5806440"/>
            <a:ext cx="10972800" cy="3657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Project Lighthouse   |   Track 04: Climate Risk &amp; Disaster Coordination   |   FutureCaribbean Buildathon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2026-07-24T19:56:37Z</dcterms:created>
  <dcterms:modified xsi:type="dcterms:W3CDTF">2026-07-24T19:56:37Z</dcterms:modified>
</cp:coreProperties>
</file>